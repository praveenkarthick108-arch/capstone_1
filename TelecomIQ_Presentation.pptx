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56"/>
  </p:notesMasterIdLst>
  <p:handoutMasterIdLst>
    <p:handoutMasterId r:id="rId57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s" id="{E77CE92A-04E0-4D1F-B234-86ED12142DC6}">
          <p14:sldIdLst>
            <p14:sldId id="302"/>
            <p14:sldId id="256"/>
            <p14:sldId id="304"/>
            <p14:sldId id="303"/>
          </p14:sldIdLst>
        </p14:section>
        <p14:section name="Agenda" id="{BD007426-0B15-4615-ADB7-F54FBB931E8E}">
          <p14:sldIdLst>
            <p14:sldId id="305"/>
            <p14:sldId id="306"/>
          </p14:sldIdLst>
        </p14:section>
        <p14:section name="Section slides" id="{447FC96A-A333-4A81-90F4-803966F9EC86}">
          <p14:sldIdLst>
            <p14:sldId id="307"/>
            <p14:sldId id="308"/>
            <p14:sldId id="309"/>
          </p14:sldIdLst>
        </p14:section>
        <p14:section name="Sub-section slides" id="{F81D16F6-894A-4CF2-9289-966EA29DC898}">
          <p14:sldIdLst>
            <p14:sldId id="310"/>
            <p14:sldId id="358"/>
            <p14:sldId id="311"/>
          </p14:sldIdLst>
        </p14:section>
        <p14:section name="Top banded slides" id="{E1ADD928-02FD-46CC-8A02-07C5325943AF}">
          <p14:sldIdLst>
            <p14:sldId id="312"/>
            <p14:sldId id="313"/>
          </p14:sldIdLst>
        </p14:section>
        <p14:section name="Bottom banded slides" id="{4012D542-B646-40B6-A6D1-C24D0BF14B8F}">
          <p14:sldIdLst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Simple slides" id="{FE3B304C-E1E2-424E-8182-71A540EDE840}">
          <p14:sldIdLst>
            <p14:sldId id="323"/>
            <p14:sldId id="324"/>
            <p14:sldId id="325"/>
            <p14:sldId id="326"/>
            <p14:sldId id="327"/>
            <p14:sldId id="328"/>
            <p14:sldId id="330"/>
            <p14:sldId id="329"/>
            <p14:sldId id="331"/>
            <p14:sldId id="333"/>
            <p14:sldId id="335"/>
            <p14:sldId id="357"/>
            <p14:sldId id="334"/>
            <p14:sldId id="336"/>
          </p14:sldIdLst>
        </p14:section>
        <p14:section name="Unique slides" id="{ADFBE297-38E6-4964-A08D-3E8E95B0403C}">
          <p14:sldIdLst>
            <p14:sldId id="320"/>
            <p14:sldId id="321"/>
            <p14:sldId id="322"/>
            <p14:sldId id="289"/>
            <p14:sldId id="281"/>
            <p14:sldId id="301"/>
          </p14:sldIdLst>
        </p14:section>
        <p14:section name="Icon Library" id="{4E0F4F5B-78AB-4C03-B9AA-409B9C89863E}">
          <p14:sldIdLst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</p14:sldIdLst>
        </p14:section>
        <p14:section name="Thanks slide" id="{B13C5C9D-A27A-4E2E-BAA1-F94C91078947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F6D6F9-4DA3-A8B8-53D6-F9B9F46BC92F}" name="Parthasarathy N" initials="PN" userId="S::parthasarathy.n@prodapt.com::044dd020-db12-4a0a-94d6-829bfa4ab6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C6C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7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56" Type="http://schemas.openxmlformats.org/officeDocument/2006/relationships/notesMaster" Target="notesMasters/notesMaster1.xml"/><Relationship Id="rId57" Type="http://schemas.openxmlformats.org/officeDocument/2006/relationships/handoutMaster" Target="handoutMasters/handout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62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4AE273-8CD3-6164-9C94-6DC69DF596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867BB-1003-CB22-C46D-510FBE5B82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3462A-954F-4E30-94DD-A3A1DE2EEE96}" type="datetime3">
              <a:rPr lang="en-IN" smtClean="0"/>
              <a:t>3 June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3874EE-DA7C-8DA0-56D8-8C1F909359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4D772-196D-EBEF-5FAB-781AC9406D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ADF21-8457-47AE-B5AA-49D7D720E2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9792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DC666-97AD-48A2-B45D-9FE62533595A}" type="datetime3">
              <a:rPr lang="en-IN" smtClean="0"/>
              <a:t>3 June 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04DCD-2B78-4859-BA96-213EF13536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73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5.svg"/><Relationship Id="rId4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1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16.svg"/><Relationship Id="rId4" Type="http://schemas.openxmlformats.org/officeDocument/2006/relationships/image" Target="../media/image5.svg"/><Relationship Id="rId5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16.svg"/><Relationship Id="rId4" Type="http://schemas.openxmlformats.org/officeDocument/2006/relationships/image" Target="../media/image5.svg"/><Relationship Id="rId5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15.svg"/><Relationship Id="rId4" Type="http://schemas.openxmlformats.org/officeDocument/2006/relationships/image" Target="../media/image5.svg"/><Relationship Id="rId5" Type="http://schemas.openxmlformats.org/officeDocument/2006/relationships/image" Target="../media/image6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1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17.svg"/><Relationship Id="rId5" Type="http://schemas.openxmlformats.org/officeDocument/2006/relationships/image" Target="../media/image1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17.svg"/><Relationship Id="rId5" Type="http://schemas.openxmlformats.org/officeDocument/2006/relationships/image" Target="../media/image1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17.svg"/><Relationship Id="rId5" Type="http://schemas.openxmlformats.org/officeDocument/2006/relationships/image" Target="../media/image15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17.svg"/><Relationship Id="rId5" Type="http://schemas.openxmlformats.org/officeDocument/2006/relationships/image" Target="../media/image15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17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17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17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17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://www.prodapt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4101373"/>
            <a:ext cx="5086350" cy="1042128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15" y="1"/>
            <a:ext cx="4082129" cy="51434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" y="0"/>
            <a:ext cx="4084264" cy="51435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16" y="2059781"/>
            <a:ext cx="4153973" cy="1023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7008" y="2121627"/>
            <a:ext cx="3933037" cy="101566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7008" y="3136013"/>
            <a:ext cx="3933037" cy="3416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800">
                <a:solidFill>
                  <a:srgbClr val="FF0000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322857" y="2359960"/>
            <a:ext cx="1508290" cy="424362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7540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4101373"/>
            <a:ext cx="5086350" cy="104212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15" y="1"/>
            <a:ext cx="4082129" cy="51434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" y="0"/>
            <a:ext cx="4084264" cy="51435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7008" y="2121627"/>
            <a:ext cx="3933037" cy="101566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accent2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7008" y="3136013"/>
            <a:ext cx="3933037" cy="3416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800">
                <a:solidFill>
                  <a:srgbClr val="FF0000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15" y="2059781"/>
            <a:ext cx="4173568" cy="1023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693824" y="2396264"/>
            <a:ext cx="1250216" cy="351753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135208" y="2346391"/>
            <a:ext cx="0" cy="45071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900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7008" y="2121627"/>
            <a:ext cx="3933037" cy="101566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7008" y="3136013"/>
            <a:ext cx="3933037" cy="3416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800">
                <a:solidFill>
                  <a:srgbClr val="FF0000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4803690" y="4089080"/>
            <a:ext cx="1508290" cy="424362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68451" cy="51435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19429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9125052" y="3061050"/>
            <a:ext cx="21600" cy="216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013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9125052" y="3061050"/>
            <a:ext cx="21600" cy="216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013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7008" y="2121627"/>
            <a:ext cx="3933037" cy="101566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7008" y="3136013"/>
            <a:ext cx="3933037" cy="3416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800">
                <a:solidFill>
                  <a:srgbClr val="FF0000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4810601" y="4062429"/>
            <a:ext cx="1441384" cy="450717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68451" cy="51435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169912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906468"/>
            <a:ext cx="2557563" cy="5493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33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626535"/>
            <a:ext cx="3878608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85763" indent="-385763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400">
                <a:solidFill>
                  <a:schemeClr val="accent2"/>
                </a:solidFill>
              </a:defRPr>
            </a:lvl1pPr>
            <a:lvl2pPr marL="685800" indent="-342900">
              <a:buFont typeface="+mj-lt"/>
              <a:buAutoNum type="arabicPeriod"/>
              <a:defRPr/>
            </a:lvl2pPr>
            <a:lvl3pPr marL="1028700" indent="-342900">
              <a:buFont typeface="+mj-lt"/>
              <a:buAutoNum type="arabicPeriod"/>
              <a:defRPr/>
            </a:lvl3pPr>
            <a:lvl4pPr marL="1285875" indent="-257175">
              <a:buFont typeface="+mj-lt"/>
              <a:buAutoNum type="arabicPeriod"/>
              <a:defRPr/>
            </a:lvl4pPr>
            <a:lvl5pPr marL="1628775" indent="-257175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2880" y="-2"/>
            <a:ext cx="1341121" cy="1341121"/>
          </a:xfrm>
          <a:prstGeom prst="rect">
            <a:avLst/>
          </a:prstGeom>
        </p:spPr>
      </p:pic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6BB3D02-BA85-E2D4-3F15-300580F6217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55EE36F-16A7-E4EC-6A7C-DF65439F42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F97551-3B74-1708-0B91-2586FB54044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68451" cy="470916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814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2880" y="-2"/>
            <a:ext cx="1341121" cy="1341121"/>
          </a:xfrm>
          <a:prstGeom prst="rect">
            <a:avLst/>
          </a:prstGeom>
        </p:spPr>
      </p:pic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6BB3D02-BA85-E2D4-3F15-300580F6217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55EE36F-16A7-E4EC-6A7C-DF65439F42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15" y="0"/>
            <a:ext cx="4141455" cy="51435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906468"/>
            <a:ext cx="2557563" cy="5493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33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626535"/>
            <a:ext cx="3878608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85763" indent="-385763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400">
                <a:solidFill>
                  <a:schemeClr val="accent2"/>
                </a:solidFill>
              </a:defRPr>
            </a:lvl1pPr>
            <a:lvl2pPr marL="685800" indent="-342900">
              <a:buFont typeface="+mj-lt"/>
              <a:buAutoNum type="arabicPeriod"/>
              <a:defRPr/>
            </a:lvl2pPr>
            <a:lvl3pPr marL="1028700" indent="-342900">
              <a:buFont typeface="+mj-lt"/>
              <a:buAutoNum type="arabicPeriod"/>
              <a:defRPr/>
            </a:lvl3pPr>
            <a:lvl4pPr marL="1285875" indent="-257175">
              <a:buFont typeface="+mj-lt"/>
              <a:buAutoNum type="arabicPeriod"/>
              <a:defRPr/>
            </a:lvl4pPr>
            <a:lvl5pPr marL="1628775" indent="-257175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Line item 1</a:t>
            </a:r>
          </a:p>
        </p:txBody>
      </p:sp>
    </p:spTree>
    <p:extLst>
      <p:ext uri="{BB962C8B-B14F-4D97-AF65-F5344CB8AC3E}">
        <p14:creationId xmlns:p14="http://schemas.microsoft.com/office/powerpoint/2010/main" val="169844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4" y="0"/>
            <a:ext cx="9147504" cy="51434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33601" y="2425948"/>
            <a:ext cx="4824413" cy="646331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3601" y="2066720"/>
            <a:ext cx="4824413" cy="369332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79326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4100367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6100" y="4099359"/>
            <a:ext cx="9150100" cy="1044142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87980"/>
            <a:ext cx="9143999" cy="1213370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2430780"/>
            <a:ext cx="9143999" cy="457198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7116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CA058-5723-B805-566A-09BE09555A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50" t="427" r="15144" b="34419"/>
          <a:stretch/>
        </p:blipFill>
        <p:spPr>
          <a:xfrm>
            <a:off x="-1" y="0"/>
            <a:ext cx="9188571" cy="5143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9188571" cy="51435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9188570" cy="51435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229366" y="1201435"/>
            <a:ext cx="1370315" cy="1370315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3272" y="1729738"/>
            <a:ext cx="5251500" cy="8420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53273" y="1272540"/>
            <a:ext cx="5251500" cy="457198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49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6100" y="-1005"/>
            <a:ext cx="9156214" cy="5144506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512063" y="527824"/>
            <a:ext cx="8113775" cy="4086848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2064" y="526818"/>
            <a:ext cx="8107678" cy="4086848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161" y="3383281"/>
            <a:ext cx="8107677" cy="1231390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 dirty="0"/>
              <a:t>Sub-section slide with image</a:t>
            </a:r>
          </a:p>
        </p:txBody>
      </p:sp>
    </p:spTree>
    <p:extLst>
      <p:ext uri="{BB962C8B-B14F-4D97-AF65-F5344CB8AC3E}">
        <p14:creationId xmlns:p14="http://schemas.microsoft.com/office/powerpoint/2010/main" val="393538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6100" y="-1005"/>
            <a:ext cx="9150099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" y="0"/>
            <a:ext cx="4084264" cy="51435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650" y="4101373"/>
            <a:ext cx="5086350" cy="104212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512063" y="527824"/>
            <a:ext cx="8113775" cy="4086848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81602" y="662937"/>
            <a:ext cx="3234634" cy="1895338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2064" y="526818"/>
            <a:ext cx="4059936" cy="4086848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981601" y="2625435"/>
            <a:ext cx="3234634" cy="185512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878077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" y="0"/>
            <a:ext cx="4084264" cy="51435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650" y="4101373"/>
            <a:ext cx="5086350" cy="104212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512063" y="527824"/>
            <a:ext cx="8113775" cy="4086848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512064" y="3901872"/>
            <a:ext cx="8113774" cy="7128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8286" y="3901872"/>
            <a:ext cx="1067552" cy="7128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034" y="4027440"/>
            <a:ext cx="6940615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Sub-section slide with image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2763" y="527050"/>
            <a:ext cx="8113712" cy="3375025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400" dirty="0" smtClean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image/smart art/table/video of 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348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0"/>
            <a:ext cx="9144000" cy="82448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9174" y="-1"/>
            <a:ext cx="1234826" cy="82448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7684928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Executive summary slide</a:t>
            </a:r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503"/>
          <a:stretch/>
        </p:blipFill>
        <p:spPr>
          <a:xfrm>
            <a:off x="0" y="824487"/>
            <a:ext cx="514350" cy="396353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F122FF1-DFCC-1ED7-BB7E-024639ABD7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503"/>
          <a:stretch/>
        </p:blipFill>
        <p:spPr>
          <a:xfrm>
            <a:off x="8629650" y="824487"/>
            <a:ext cx="514350" cy="3963538"/>
          </a:xfrm>
          <a:prstGeom prst="rect">
            <a:avLst/>
          </a:prstGeom>
        </p:spPr>
      </p:pic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F4FF75C0-9C22-A82C-AAC4-3DA1E694BACB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40BAAB7-B619-613A-C4AE-B56F253D759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A8EE21E-CCCE-A9D3-AA8F-EBFD41301A2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1" y="994588"/>
            <a:ext cx="7823199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59975" y="1427166"/>
            <a:ext cx="7823198" cy="3281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781932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0"/>
            <a:ext cx="9144000" cy="82448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9174" y="0"/>
            <a:ext cx="1234826" cy="82448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503"/>
          <a:stretch/>
        </p:blipFill>
        <p:spPr>
          <a:xfrm>
            <a:off x="0" y="824487"/>
            <a:ext cx="514350" cy="396353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F122FF1-DFCC-1ED7-BB7E-024639ABD7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503"/>
          <a:stretch/>
        </p:blipFill>
        <p:spPr>
          <a:xfrm>
            <a:off x="8629650" y="824487"/>
            <a:ext cx="514350" cy="396353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7684927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Executive summary slide with image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F1C061E-4541-6FAD-B466-F3A466550A60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AE3FAE-7221-707D-1175-D80CC26DCF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C3CE460-2316-ED68-6D40-C6D8AF47EC9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46515" y="994588"/>
            <a:ext cx="5237085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60399" y="1008421"/>
            <a:ext cx="2439639" cy="3700738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3246087" y="1427166"/>
            <a:ext cx="5237085" cy="3281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57415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2 image blocks slide with description 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22A845E-8F8F-097B-A2B6-B8A30C1B55F9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316BAF4-27A8-09F1-36E8-A07C77DE58C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64C152-3AAA-7FE2-3A17-A9B8E7D838D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35274" y="994588"/>
            <a:ext cx="4282572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24247" y="994588"/>
            <a:ext cx="4282572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634320" y="2849253"/>
            <a:ext cx="4282572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24247" y="2849253"/>
            <a:ext cx="4282572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358992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 image blocks slide with description 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879F1C93-E196-05C0-4304-809972CC664B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D60DD8-5322-B68A-F6A0-9956669BC9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F4071DD-996F-4CD0-7B5B-906AE5A6811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24247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176214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25319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25318" y="2849253"/>
            <a:ext cx="2791573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76214" y="2849253"/>
            <a:ext cx="2791573" cy="1021994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050" dirty="0" smtClean="0"/>
            </a:lvl1pPr>
            <a:lvl2pPr>
              <a:defRPr lang="en-US" sz="1050" dirty="0" smtClean="0"/>
            </a:lvl2pPr>
            <a:lvl3pPr>
              <a:defRPr lang="en-US" sz="1000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dirty="0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3176214" y="2849253"/>
            <a:ext cx="2791573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24247" y="2849253"/>
            <a:ext cx="2791573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979147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431777" y="1012769"/>
            <a:ext cx="2074486" cy="28424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639307" y="1012769"/>
            <a:ext cx="2074486" cy="28424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846837" y="1012769"/>
            <a:ext cx="2074486" cy="28424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3-step/block content slide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32A92A82-15C7-9B92-C225-7ECE9F27F8DF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8A5859-5BB5-34F5-FDDA-5FA921FE082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4B89C0-BB80-2B69-06E7-26468F537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24247" y="2522621"/>
            <a:ext cx="2072917" cy="1332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24247" y="1018265"/>
            <a:ext cx="2072917" cy="1428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2535257" y="1424940"/>
            <a:ext cx="1867526" cy="23469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4742787" y="1424940"/>
            <a:ext cx="1867526" cy="23469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950317" y="1424940"/>
            <a:ext cx="1867526" cy="23469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3539327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5724000" y="2493842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431777" y="2493842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5724000" y="1012769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2431777" y="1012769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FB96F-990E-FF2A-6AA1-21559667C261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823AE4D-41BA-C2BF-D6D3-F0B9B3D73F6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8E3703-E9AD-B999-F4B5-7FF77A5819E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4-step/block content slide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24247" y="2522621"/>
            <a:ext cx="2072917" cy="1332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24247" y="1018265"/>
            <a:ext cx="2072917" cy="1428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2504711" y="1371824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5800880" y="1371824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2504711" y="2837049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5800880" y="2837049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016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5-step/block content slide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7B00230-282C-2C13-FD69-5790996D46B0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D5D274-A4B6-2882-1B2C-5DF1F1EE13E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90741F-E0C1-6FBB-F03B-62CE39B1FB5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5724000" y="1012769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2431777" y="1012769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43177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63930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84683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24247" y="2522621"/>
            <a:ext cx="2072917" cy="1332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24247" y="1018265"/>
            <a:ext cx="2072917" cy="1428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2504711" y="1371824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5800880" y="1371824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919281" y="2850104"/>
            <a:ext cx="192959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711751" y="2850104"/>
            <a:ext cx="192959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2504711" y="2850104"/>
            <a:ext cx="192959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3011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6846837" y="1016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6-step/block content slide</a:t>
            </a:r>
            <a:endParaRPr lang="en-US" dirty="0"/>
          </a:p>
        </p:txBody>
      </p:sp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D69F1880-A7AF-5F8D-ADA9-3D357A4356B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BB8481EF-FF33-98E9-1475-1079EE78F65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90B98CA5-9B78-37E3-0BB5-22D6F5AB7A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43177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63930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84683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919281" y="285010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711751" y="285010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24247" y="2522621"/>
            <a:ext cx="2072917" cy="1332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24247" y="1018265"/>
            <a:ext cx="2072917" cy="1428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2431777" y="1016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4639307" y="1016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2504711" y="285010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6919281" y="137182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711751" y="137182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2504711" y="137182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174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2 image blocks slide with description 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22A845E-8F8F-097B-A2B6-B8A30C1B55F9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316BAF4-27A8-09F1-36E8-A07C77DE58C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64C152-3AAA-7FE2-3A17-A9B8E7D838D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4247" y="2849253"/>
            <a:ext cx="4282572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5274" y="2849253"/>
            <a:ext cx="4282572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35274" y="994588"/>
            <a:ext cx="4282572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24247" y="994588"/>
            <a:ext cx="4282572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8118483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 image blocks slide with description 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879F1C93-E196-05C0-4304-809972CC664B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D60DD8-5322-B68A-F6A0-9956669BC9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F4071DD-996F-4CD0-7B5B-906AE5A6811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24247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176214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25319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4247" y="2849253"/>
            <a:ext cx="2791573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76214" y="2849253"/>
            <a:ext cx="2791573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25319" y="2849253"/>
            <a:ext cx="2791573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1046210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3-step/block content slide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32A92A82-15C7-9B92-C225-7ECE9F27F8DF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8A5859-5BB5-34F5-FDDA-5FA921FE082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4B89C0-BB80-2B69-06E7-26468F537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5682" y="1012769"/>
            <a:ext cx="2772000" cy="36659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185763" y="1012769"/>
            <a:ext cx="2772000" cy="36659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045843" y="1012769"/>
            <a:ext cx="2772000" cy="36659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04731" y="1406764"/>
            <a:ext cx="2613903" cy="31499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3268935" y="1406764"/>
            <a:ext cx="2605656" cy="31499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6129015" y="1406764"/>
            <a:ext cx="2605656" cy="31499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881207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25682" y="1012769"/>
            <a:ext cx="4201830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FB96F-990E-FF2A-6AA1-21559667C261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823AE4D-41BA-C2BF-D6D3-F0B9B3D73F6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8E3703-E9AD-B999-F4B5-7FF77A5819E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4-step/block content slide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615592" y="1012769"/>
            <a:ext cx="4202251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04731" y="1391525"/>
            <a:ext cx="4052969" cy="133419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4687620" y="1391525"/>
            <a:ext cx="4052969" cy="133419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325682" y="2881910"/>
            <a:ext cx="4201830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4615592" y="2881910"/>
            <a:ext cx="4202251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04731" y="3260666"/>
            <a:ext cx="4052969" cy="133419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687620" y="3260666"/>
            <a:ext cx="4052969" cy="133419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259276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185763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 dirty="0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5-step/block content slide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7B00230-282C-2C13-FD69-5790996D46B0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D5D274-A4B6-2882-1B2C-5DF1F1EE13E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90741F-E0C1-6FBB-F03B-62CE39B1FB5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276960" y="3249371"/>
            <a:ext cx="2590079" cy="1345489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136804" y="3249371"/>
            <a:ext cx="2590079" cy="1345489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5682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 dirty="0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 dirty="0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045843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 dirty="0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 dirty="0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04732" y="3253046"/>
            <a:ext cx="2607410" cy="134157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25682" y="1012769"/>
            <a:ext cx="4201830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 dirty="0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615592" y="1012769"/>
            <a:ext cx="4202251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 dirty="0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04731" y="1383905"/>
            <a:ext cx="4052969" cy="126005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4687620" y="1383905"/>
            <a:ext cx="4052969" cy="126005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8849263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5682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185097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045177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25682" y="10117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185097" y="10117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6045177" y="10117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6-step/block content slide</a:t>
            </a:r>
            <a:endParaRPr lang="en-US" dirty="0"/>
          </a:p>
        </p:txBody>
      </p:sp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D69F1880-A7AF-5F8D-ADA9-3D357A4356B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BB8481EF-FF33-98E9-1475-1079EE78F65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90B98CA5-9B78-37E3-0BB5-22D6F5AB7A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278062" y="3241751"/>
            <a:ext cx="2590079" cy="1353109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136138" y="3241751"/>
            <a:ext cx="2590079" cy="1353109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04066" y="3245426"/>
            <a:ext cx="2607410" cy="134943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3278062" y="1374851"/>
            <a:ext cx="2590079" cy="126373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36138" y="1374851"/>
            <a:ext cx="2590079" cy="126373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04066" y="1378526"/>
            <a:ext cx="2607410" cy="126005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735058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Slide with image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D83575E-270F-99F3-7C58-E10ED25DCAA6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6E1D782-C56D-C41D-4431-65121A51A8C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33DB54F-9C01-2444-952E-D2D1FB58787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7184" y="994588"/>
            <a:ext cx="4282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994588"/>
            <a:ext cx="4457700" cy="3700738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637184" y="1443431"/>
            <a:ext cx="4282570" cy="32518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918842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Slide with text only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7CB00B18-0CD2-42A9-7943-052768E462BA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126A0A-4295-05D8-5293-27FC2E91930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6380F3D-3E41-E188-B161-C9ED7752548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248" y="994588"/>
            <a:ext cx="8695505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24247" y="1443431"/>
            <a:ext cx="8695507" cy="32518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1584099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Single text block slide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9B07B-9197-1B2E-8E47-0080358E041D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028AFC2-D555-EEAB-07B1-154EB24C646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7A8F785-C201-9F0D-3B52-63011A84F17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572000" y="977707"/>
            <a:ext cx="4347754" cy="3717619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40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149003"/>
            <a:ext cx="4572000" cy="3375025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400" dirty="0" smtClean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image/smart art/table/video of 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545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Single text block slide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23A3262-3306-463F-A933-202FAE6F39A3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3562EB2-255E-3311-A3CD-3126A5BD0B2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71AE289-5A53-FBF9-DD7C-211C0B0800D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7184" y="1009561"/>
            <a:ext cx="4282569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637184" y="1443431"/>
            <a:ext cx="4282570" cy="32518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009561"/>
            <a:ext cx="4506817" cy="3685765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400" dirty="0" smtClean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image/smart art/table/video of 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4224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429CBCC-F916-18DC-1F96-5124E66A900F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B0A5C56-BF2B-5FF1-94CA-BDF907A2700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4DA3D33-F6B1-7CAA-3A0E-E3674E7C5FB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4245" y="257175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68000" y="257175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 text blocks slide</a:t>
            </a:r>
            <a:endParaRPr lang="en-US" dirty="0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11755" y="257175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11753" y="2918460"/>
            <a:ext cx="2808001" cy="177686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168000" y="2918460"/>
            <a:ext cx="2808001" cy="177686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5" y="2918460"/>
            <a:ext cx="2808001" cy="177686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24245" y="975360"/>
            <a:ext cx="8695509" cy="146015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757150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 text blocks slide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8A60B65-6A14-C6A1-A77B-377159851D91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188F02-FE62-037D-320B-54E59607998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43F712D-F9BE-F984-2334-9DABAF6F88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4245" y="271653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68000" y="271653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11755" y="271653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11753" y="3088758"/>
            <a:ext cx="2808001" cy="16065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168000" y="3088758"/>
            <a:ext cx="2808001" cy="16065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5" y="3088758"/>
            <a:ext cx="2808001" cy="16065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7620" y="974279"/>
            <a:ext cx="9144004" cy="1597472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400" dirty="0" smtClean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image/smart art/table/video of 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4675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4-block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CA1A7DD-AF71-20E2-497F-DDF37E40E5EC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063683-A806-9C49-E706-BD858914EF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5CC6ABA-0573-EAFA-9C65-3E2067A56BD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3177" y="2628577"/>
            <a:ext cx="2071913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431754" y="2628577"/>
            <a:ext cx="2071913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40331" y="2628577"/>
            <a:ext cx="2071913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48909" y="2628577"/>
            <a:ext cx="2071913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2431754" y="1013151"/>
            <a:ext cx="1512000" cy="151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4640331" y="1013151"/>
            <a:ext cx="1512000" cy="151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848909" y="1013151"/>
            <a:ext cx="1512000" cy="151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23177" y="1013151"/>
            <a:ext cx="1512000" cy="151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639267" y="3090712"/>
            <a:ext cx="2070846" cy="160461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2431755" y="3090712"/>
            <a:ext cx="2070846" cy="160461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5" y="3090712"/>
            <a:ext cx="2070845" cy="160461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849442" y="3090712"/>
            <a:ext cx="2070846" cy="160461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6698896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12359" y="2271524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12360" y="2643133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100" dirty="0" smtClean="0"/>
            </a:lvl1pPr>
            <a:lvl4pPr>
              <a:defRPr lang="en-IN" sz="12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  <a:p>
            <a:pPr lvl="3"/>
            <a:endParaRPr lang="en-IN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6-block slide</a:t>
            </a:r>
            <a:endParaRPr lang="en-US" dirty="0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16223" y="2276639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16223" y="355410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4F75C6D-E72A-0007-7E00-05DD4A88A0B1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92039A4-FA6F-9583-A4C3-8BFB8C201FB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CC383DA-235B-2031-CB72-B534D2C0461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312359" y="355410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312360" y="3920594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1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288715" y="2271524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288716" y="2643133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1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192579" y="2276639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3192579" y="355410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8715" y="355410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288716" y="3920594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1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247165" y="2271524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247166" y="2643133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1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6151029" y="2276639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6151029" y="355410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247165" y="355410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247166" y="3920594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2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5" y="1008587"/>
            <a:ext cx="8702681" cy="112725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6458166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6-block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473A392-74C8-B42D-C588-E8356199F206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ED3075-0BFE-FE73-6762-E849143160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8823814-848C-E4A5-BAF7-0C74D39C927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288715" y="2286184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288716" y="2652677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192579" y="2286184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3192579" y="355410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8715" y="355410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288716" y="3920594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247165" y="2275859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247166" y="2642352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6151029" y="2275859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6151029" y="3543776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247165" y="3543776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247166" y="3910269"/>
            <a:ext cx="1679760" cy="765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288715" y="101315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288716" y="1384760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192579" y="1018266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7247165" y="101315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247166" y="1374435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6151029" y="100794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6" y="1008587"/>
            <a:ext cx="2808514" cy="179021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24246" y="2944067"/>
            <a:ext cx="2808514" cy="174223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6553500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Development stages slide</a:t>
            </a:r>
            <a:endParaRPr lang="en-US" dirty="0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124" y="1457325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82524" y="1317277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6924" y="1200006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51324" y="1074917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85724" y="956704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5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7562886-A35D-547F-2511-5FD96D2E8AC0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C89AC0F-371D-5CEB-7124-B6E9F367AD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CACE905-A1D0-8085-38D9-BA7EBF6A156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8124" y="1457325"/>
            <a:ext cx="1512000" cy="27285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82524" y="1317277"/>
            <a:ext cx="1512000" cy="30294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16924" y="1200006"/>
            <a:ext cx="1512000" cy="32639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51324" y="1074917"/>
            <a:ext cx="1512000" cy="35129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85724" y="956705"/>
            <a:ext cx="1512000" cy="37517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716100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Steps/processes slide</a:t>
            </a:r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247" y="2822398"/>
            <a:ext cx="1800000" cy="433348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5897" y="2822398"/>
            <a:ext cx="1800000" cy="433348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2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dirty="0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67547" y="2822398"/>
            <a:ext cx="1800000" cy="433348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2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dirty="0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9197" y="2822398"/>
            <a:ext cx="1800000" cy="433348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2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dirty="0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10846" y="2839211"/>
            <a:ext cx="1800000" cy="433348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2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dirty="0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247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24247" y="1911527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42297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674747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92797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10846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4248" y="933156"/>
            <a:ext cx="8672198" cy="7563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195EFF3-2C9E-21B6-037C-81F08BD78399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470C87-DB11-D750-2433-CF911BAE763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20AA409-752E-5C68-F3C5-475008F29A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1956697" y="1911527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674747" y="1911527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5392797" y="1911527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110846" y="1894714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24247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942297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3674747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2797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7110846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9291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Timeline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0DD81E1-B82A-80AB-9808-54DCEEDADD8C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C3627A-AC3F-EB4B-1886-E3B8EFC1BFF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17FD976-FCF7-9D5C-7905-279BE86F2CB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317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2387477"/>
            <a:ext cx="9144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11623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870703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0317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37640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2</a:t>
            </a:r>
            <a:endParaRPr lang="en-IN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518946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578026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140710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51104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3</a:t>
            </a:r>
            <a:endParaRPr lang="en-IN" dirty="0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232410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4291490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51103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61496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4</a:t>
            </a:r>
            <a:endParaRPr lang="en-IN" dirty="0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5942802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6001882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561496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71888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5</a:t>
            </a:r>
            <a:endParaRPr lang="en-IN" dirty="0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7653194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7712274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271888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4248" y="933156"/>
            <a:ext cx="8672198" cy="7563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9573529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Doughnut percentage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9D1577E-73CD-BD76-5613-A5B4040CD7F7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565506-8EFF-23D9-F43B-72EE0E8020A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6885028" y="1094748"/>
            <a:ext cx="1461214" cy="146121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6921766" y="1131486"/>
            <a:ext cx="1387738" cy="1387738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7083734" y="1293454"/>
            <a:ext cx="1063802" cy="1063802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400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 dirty="0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749850" y="2693584"/>
            <a:ext cx="1731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750296" y="3052293"/>
            <a:ext cx="1730678" cy="145568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4854146" y="1094748"/>
            <a:ext cx="1461214" cy="146121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4890884" y="1131486"/>
            <a:ext cx="1387738" cy="1387738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5052852" y="1293454"/>
            <a:ext cx="1063802" cy="1063802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400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 dirty="0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4718968" y="2693584"/>
            <a:ext cx="1731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4719414" y="3052293"/>
            <a:ext cx="1730678" cy="145568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2823710" y="1094748"/>
            <a:ext cx="1461214" cy="1461214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2860448" y="1131486"/>
            <a:ext cx="1387738" cy="1387738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3022416" y="1293454"/>
            <a:ext cx="1063802" cy="1063802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400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 dirty="0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2688532" y="2693584"/>
            <a:ext cx="1731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2688978" y="3052293"/>
            <a:ext cx="1730678" cy="145568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792828" y="1094748"/>
            <a:ext cx="1461214" cy="14612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829566" y="1131486"/>
            <a:ext cx="1387738" cy="1387738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991534" y="1293454"/>
            <a:ext cx="1063802" cy="1063802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 dirty="0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657650" y="2693584"/>
            <a:ext cx="1731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658096" y="3052293"/>
            <a:ext cx="1730678" cy="145568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7568B14E-620E-C7BB-04DB-EAA069974D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926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ber slid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5AA4347-1007-81BD-5B10-67FA43883F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247" y="994588"/>
            <a:ext cx="4204877" cy="3694746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6600">
                <a:latin typeface="KareliaWeb Regular" panose="00000500000000000000" pitchFamily="2" charset="0"/>
              </a:defRPr>
            </a:lvl1pPr>
          </a:lstStyle>
          <a:p>
            <a:pPr lvl="0"/>
            <a:r>
              <a:rPr lang="en-IN" dirty="0"/>
              <a:t>2500+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36E1D0-68B8-A965-0A1A-DA590EE34C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1A93513-D318-1B19-286C-9796FF0D75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Number slide with description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B33FD242-5DF9-D71B-3D90-9AD729763446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16CD8B9-7233-DDDE-8D5F-AC6E9BC98CA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233205-D56B-DB22-5CB1-4B308A49FB6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6FAFAFC1-6AB8-4C96-F015-5EEC407D0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7181" y="994588"/>
            <a:ext cx="4282571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6BDFB01-C023-6344-EBC0-2F8F33A066F3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637184" y="1443431"/>
            <a:ext cx="4282570" cy="32518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287197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Question and answer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9D1577E-73CD-BD76-5613-A5B4040CD7F7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565506-8EFF-23D9-F43B-72EE0E8020A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7DA1A2D-9B93-9010-BCF0-D7E155B83DF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98344" y="771384"/>
            <a:ext cx="6874207" cy="170755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98344" y="2650130"/>
            <a:ext cx="6874207" cy="209332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163116" y="728378"/>
            <a:ext cx="1737495" cy="1793568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8800" dirty="0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163116" y="2800006"/>
            <a:ext cx="1737495" cy="1793568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8800" dirty="0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012715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Blank slide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B034F3D-1881-CBAC-5E74-2611532B166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58196-C1A8-0962-717A-9D0F1525CB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6A4EDC6-86CD-45A3-E23F-CF4D72FBEED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2666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7504" cy="51435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9794" y="2050256"/>
            <a:ext cx="4824413" cy="1042988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3125" y="3257551"/>
            <a:ext cx="4857750" cy="481964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7098454" y="4588915"/>
            <a:ext cx="1795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250370" y="4588915"/>
            <a:ext cx="27519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823152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72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3" r:id="rId2"/>
    <p:sldLayoutId id="2147483736" r:id="rId3"/>
    <p:sldLayoutId id="2147483735" r:id="rId4"/>
    <p:sldLayoutId id="2147483737" r:id="rId5"/>
    <p:sldLayoutId id="2147483738" r:id="rId6"/>
    <p:sldLayoutId id="2147483740" r:id="rId7"/>
    <p:sldLayoutId id="2147483705" r:id="rId8"/>
    <p:sldLayoutId id="2147483739" r:id="rId9"/>
    <p:sldLayoutId id="2147483714" r:id="rId10"/>
    <p:sldLayoutId id="2147483756" r:id="rId11"/>
    <p:sldLayoutId id="2147483711" r:id="rId12"/>
    <p:sldLayoutId id="2147483718" r:id="rId13"/>
    <p:sldLayoutId id="2147483716" r:id="rId14"/>
    <p:sldLayoutId id="2147483741" r:id="rId15"/>
    <p:sldLayoutId id="2147483710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17" r:id="rId27"/>
    <p:sldLayoutId id="2147483715" r:id="rId28"/>
    <p:sldLayoutId id="2147483719" r:id="rId29"/>
    <p:sldLayoutId id="2147483729" r:id="rId30"/>
    <p:sldLayoutId id="2147483726" r:id="rId31"/>
    <p:sldLayoutId id="2147483725" r:id="rId32"/>
    <p:sldLayoutId id="2147483722" r:id="rId33"/>
    <p:sldLayoutId id="2147483723" r:id="rId34"/>
    <p:sldLayoutId id="2147483724" r:id="rId35"/>
    <p:sldLayoutId id="2147483727" r:id="rId36"/>
    <p:sldLayoutId id="2147483728" r:id="rId37"/>
    <p:sldLayoutId id="2147483732" r:id="rId38"/>
    <p:sldLayoutId id="2147483731" r:id="rId39"/>
    <p:sldLayoutId id="2147483752" r:id="rId40"/>
    <p:sldLayoutId id="2147483755" r:id="rId41"/>
    <p:sldLayoutId id="2147483753" r:id="rId42"/>
    <p:sldLayoutId id="2147483754" r:id="rId4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t>TelecomIQ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t>AI-Powered Telecom Network Fault Intelligence
Capstone Project 2026  ·  Praveen K G  ·  Prodapt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01   Problem Statement</a:t>
            </a:r>
          </a:p>
          <a:p>
            <a:r>
              <a:t>02   Solution Overview</a:t>
            </a:r>
          </a:p>
          <a:p>
            <a:r>
              <a:t>03   System Architecture &amp; Data Flow</a:t>
            </a:r>
          </a:p>
          <a:p>
            <a:r>
              <a:t>04   Key Innovations</a:t>
            </a:r>
          </a:p>
          <a:p>
            <a:r>
              <a:t>05   Analytics &amp; Intelligence</a:t>
            </a:r>
          </a:p>
          <a:p>
            <a:r>
              <a:t>06   Responsible AI &amp; Sustainability</a:t>
            </a:r>
          </a:p>
          <a:p>
            <a:r>
              <a:t>07   Evaluation &amp; Results</a:t>
            </a:r>
          </a:p>
          <a:p>
            <a:r>
              <a:t>08   Technology Stack</a:t>
            </a:r>
          </a:p>
          <a:p>
            <a:r>
              <a:t>09   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NOC Engineer's Daily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Why telecom fault diagnosis is slow, costly and error-prone today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98" sz="quarter"/>
          </p:nvPr>
        </p:nvSpPr>
        <p:spPr/>
        <p:txBody>
          <a:bodyPr wrap="square"/>
          <a:lstStyle/>
          <a:p>
            <a:r>
              <a:t>→  Network faults occur across 5 regions × 6 technologies × multiple vendors simultaneously</a:t>
            </a:r>
          </a:p>
          <a:p>
            <a:r>
              <a:t>→  Engineers manually search thousands of historical tickets — 45 to 90 minutes per incident</a:t>
            </a:r>
          </a:p>
          <a:p>
            <a:r>
              <a:t>→  Siloed data: alarms in OSS, tickets in ServiceNow, resolution notes in wikis — no unified view</a:t>
            </a:r>
          </a:p>
          <a:p>
            <a:r>
              <a:t>→  No root-cause correlation: same faults recur because patterns are never captured</a:t>
            </a:r>
          </a:p>
          <a:p>
            <a:r>
              <a:t>→  P1-Critical outages cost $100K–$200K per hour while engineers are still diagnosing</a:t>
            </a:r>
          </a:p>
          <a:p>
            <a:r>
              <a:t>→  Teams are reactive — customer impact occurs before fault is even detected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r>
              <a:t>45–90 min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Scale of the Problem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Avg time to identify root cause — manually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7" sz="quarter"/>
          </p:nvPr>
        </p:nvSpPr>
        <p:spPr/>
        <p:txBody>
          <a:bodyPr wrap="square"/>
          <a:lstStyle/>
          <a:p>
            <a:r>
              <a:t>TelecomIQ diagnoses in under 60 seconds</a:t>
            </a:r>
          </a:p>
          <a:p>
            <a:r>
              <a:t/>
            </a:r>
          </a:p>
          <a:p>
            <a:r>
              <a:t>→  7,400 historical incidents contain repeating patterns — never cross-referenced</a:t>
            </a:r>
          </a:p>
          <a:p>
            <a:r>
              <a:t>→  P1-Critical SLA breaches happen while teams are still in discovery mode</a:t>
            </a:r>
          </a:p>
          <a:p>
            <a:r>
              <a:t>→  Same root causes solved repeatedly — no institutional AI memory</a:t>
            </a:r>
          </a:p>
          <a:p>
            <a:r>
              <a:t>→  Manual ServiceNow tickets are slow, inconsistent and miss technical detail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Our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TelecomIQ — Intelligent Fault Intelligence Platform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Describe the fault in plain language. AI agents do the rest.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98" sz="quarter"/>
          </p:nvPr>
        </p:nvSpPr>
        <p:spPr/>
        <p:txBody>
          <a:bodyPr wrap="square"/>
          <a:lstStyle/>
          <a:p>
            <a:r>
              <a:t>→  Natural language query: '5G not working in Chennai' — no forms, no filters required</a:t>
            </a:r>
          </a:p>
          <a:p>
            <a:r>
              <a:t>→  AI retrieves 5 most similar incidents from 7,400-incident knowledge base in seconds</a:t>
            </a:r>
          </a:p>
          <a:p>
            <a:r>
              <a:t>→  Root Cause Analysis: fault chain + confidence score + correlated alarms</a:t>
            </a:r>
          </a:p>
          <a:p>
            <a:r>
              <a:t>→  Service Impact: affected subscribers, SLA breach risk, revenue impact per hour</a:t>
            </a:r>
          </a:p>
          <a:p>
            <a:r>
              <a:t>→  Resolution Playbook: vendor-specific CLI commands + escalation path</a:t>
            </a:r>
          </a:p>
          <a:p>
            <a:r>
              <a:t>→  ServiceNow integration: structured NOC incident ticket created in one click</a:t>
            </a:r>
          </a:p>
          <a:p>
            <a:r>
              <a:t>→  Green AI: 97% token reduction vs naive LLM baseline + semantic query caching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5-Tier 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Browser · API · Intelligence · RAG · Data — with external integrations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98" sz="quarter"/>
          </p:nvPr>
        </p:nvSpPr>
        <p:spPr/>
        <p:txBody>
          <a:bodyPr wrap="square"/>
          <a:lstStyle/>
          <a:p>
            <a:r>
              <a:t>Tier 1 — Frontend:       React 18 + TypeScript · Recharts · SSE streaming client · Voice</a:t>
            </a:r>
          </a:p>
          <a:p>
            <a:r>
              <a:t>Tier 2 — API Layer:      FastAPI + Uvicorn · /api/stream · /api/query · /api/followup</a:t>
            </a:r>
          </a:p>
          <a:p>
            <a:r>
              <a:t>Tier 3 — Intelligence:   Guardrails → Query Enhancement (LLM) → Anomaly Detector → Orchestrator</a:t>
            </a:r>
          </a:p>
          <a:p>
            <a:r>
              <a:t>Tier 4 — RAG Stack:      Embeddings → ChromaDB + BM25 → RRF Fusion → LLM Reranker + Explainability</a:t>
            </a:r>
          </a:p>
          <a:p>
            <a:r>
              <a:t>Tier 5 — Data Layer:     ChromaDB (7,400 docs) · BM25 index · Telstra CSV · localStorage</a:t>
            </a:r>
          </a:p>
          <a:p>
            <a:r>
              <a:t>External:                LLM Gateway (gpt-4o-mini) · ServiceNow REST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Data Flow — Query to Response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8 steps from natural language input to SSE-streamed structured intelligence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98" sz="quarter"/>
          </p:nvPr>
        </p:nvSpPr>
        <p:spPr/>
        <p:txBody>
          <a:bodyPr wrap="square"/>
          <a:lstStyle/>
          <a:p>
            <a:r>
              <a:t>Step 1 — INPUT:      Natural language text or voice (Web Speech API)</a:t>
            </a:r>
          </a:p>
          <a:p>
            <a:r>
              <a:t>Step 2 — VALIDATE:   Guardrails: PII · injection · telecom keyword filter (422 on reject)</a:t>
            </a:r>
          </a:p>
          <a:p>
            <a:r>
              <a:t>Step 3 — ENHANCE:    LLM rewrites to technical language · extracts region/tech/severity</a:t>
            </a:r>
          </a:p>
          <a:p>
            <a:r>
              <a:t>Step 4 — RETRIEVE:   Parallel: vector search + BM25 → RRF fusion → LLM reranker → top-5</a:t>
            </a:r>
          </a:p>
          <a:p>
            <a:r>
              <a:t>Step 5 — AGENT 1:    Alarm Retrieval — runs hybrid_search(), returns incident patterns</a:t>
            </a:r>
          </a:p>
          <a:p>
            <a:r>
              <a:t>Step 6 — AGENTS 2-4: RCA → Service Impact → Resolution (A2A context passing)</a:t>
            </a:r>
          </a:p>
          <a:p>
            <a:r>
              <a:t>Step 7 — POST:        Anomaly detection · chain fixing · SLA escalation</a:t>
            </a:r>
          </a:p>
          <a:p>
            <a:r>
              <a:t>Step 8 — OUTPUT:      SSE stream to frontend — one event per agent — progressive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Key Innovations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9" sz="quarter"/>
          </p:nvPr>
        </p:nvSpPr>
        <p:spPr/>
        <p:txBody>
          <a:bodyPr wrap="square"/>
          <a:lstStyle/>
          <a:p>
            <a:r>
              <a:t>Explainability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93" sz="quarter"/>
          </p:nvPr>
        </p:nvSpPr>
        <p:spPr/>
        <p:txBody>
          <a:bodyPr wrap="square"/>
          <a:lstStyle/>
          <a:p>
            <a:r>
              <a:t>RRF Fusion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0" sz="quarter"/>
          </p:nvPr>
        </p:nvSpPr>
        <p:spPr/>
        <p:txBody>
          <a:bodyPr wrap="square"/>
          <a:lstStyle/>
          <a:p>
            <a:r>
              <a:t>BM25 Keyword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1" sz="quarter"/>
          </p:nvPr>
        </p:nvSpPr>
        <p:spPr/>
        <p:txBody>
          <a:bodyPr wrap="square"/>
          <a:lstStyle/>
          <a:p>
            <a:r>
              <a:t>Vector Search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Innovation 1 — Hybrid RAG with Retrieval Explainability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85" sz="quarter"/>
          </p:nvPr>
        </p:nvSpPr>
        <p:spPr/>
        <p:txBody>
          <a:bodyPr wrap="square"/>
          <a:lstStyle/>
          <a:p>
            <a:r>
              <a:t>Traditional RAG is a black box. TelecomIQ shows WHY each incident was retrieved — keyword hits + semantic similarity.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76" sz="quarter"/>
          </p:nvPr>
        </p:nvSpPr>
        <p:spPr/>
        <p:txBody>
          <a:bodyPr wrap="square"/>
          <a:lstStyle/>
          <a:p>
            <a:r>
              <a:t>BM25 catches exact alarm codes.</a:t>
            </a:r>
          </a:p>
          <a:p>
            <a:r>
              <a:t>Vector search handles semantics.</a:t>
            </a:r>
          </a:p>
          <a:p>
            <a:r>
              <a:t>RRF fuses both.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78" sz="quarter"/>
          </p:nvPr>
        </p:nvSpPr>
        <p:spPr/>
        <p:txBody>
          <a:bodyPr wrap="square"/>
          <a:lstStyle/>
          <a:p>
            <a:r>
              <a:t>Why Hybrid?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24" sz="quarter"/>
          </p:nvPr>
        </p:nvSpPr>
        <p:spPr/>
        <p:txBody>
          <a:bodyPr wrap="square"/>
          <a:lstStyle/>
          <a:p>
            <a:r>
              <a:rPr sz="900"/>
              <a:t>text-embedding-3-small</a:t>
            </a:r>
          </a:p>
          <a:p>
            <a:r>
              <a:rPr sz="900"/>
              <a:t>ChromaDB cosine sim</a:t>
            </a:r>
          </a:p>
          <a:p>
            <a:r>
              <a:rPr sz="900"/>
              <a:t>Metadata filter support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26" sz="quarter"/>
          </p:nvPr>
        </p:nvSpPr>
        <p:spPr/>
        <p:txBody>
          <a:bodyPr wrap="square"/>
          <a:lstStyle/>
          <a:p>
            <a:r>
              <a:rPr sz="900"/>
              <a:t>rank_bm25 IDF scoring</a:t>
            </a:r>
          </a:p>
          <a:p>
            <a:r>
              <a:rPr sz="900"/>
              <a:t>Top-20 candidates</a:t>
            </a:r>
          </a:p>
          <a:p>
            <a:r>
              <a:rPr sz="900"/>
              <a:t>BM25-only fallback mode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28" sz="quarter"/>
          </p:nvPr>
        </p:nvSpPr>
        <p:spPr/>
        <p:txBody>
          <a:bodyPr wrap="square"/>
          <a:lstStyle/>
          <a:p>
            <a:r>
              <a:rPr sz="900"/>
              <a:t>score = 1/(k+rank_v)</a:t>
            </a:r>
          </a:p>
          <a:p>
            <a:r>
              <a:rPr sz="900"/>
              <a:t>     + 1/(k+rank_b)</a:t>
            </a:r>
          </a:p>
          <a:p>
            <a:r>
              <a:rPr sz="900"/>
              <a:t>Top-10 fused results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30" sz="quarter"/>
          </p:nvPr>
        </p:nvSpPr>
        <p:spPr/>
        <p:txBody>
          <a:bodyPr wrap="square"/>
          <a:lstStyle/>
          <a:p>
            <a:r>
              <a:rPr sz="900"/>
              <a:t>BM25 matching terms</a:t>
            </a:r>
          </a:p>
          <a:p>
            <a:r>
              <a:rPr sz="900"/>
              <a:t>+ vector similarity %</a:t>
            </a:r>
          </a:p>
          <a:p>
            <a:r>
              <a:rPr sz="900"/>
              <a:t>+ retrieval method tag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9" sz="quarter"/>
          </p:nvPr>
        </p:nvSpPr>
        <p:spPr/>
        <p:txBody>
          <a:bodyPr wrap="square"/>
          <a:lstStyle/>
          <a:p>
            <a:r>
              <a:t>Agent 4: Resolution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93" sz="quarter"/>
          </p:nvPr>
        </p:nvSpPr>
        <p:spPr/>
        <p:txBody>
          <a:bodyPr wrap="square"/>
          <a:lstStyle/>
          <a:p>
            <a:r>
              <a:t>Agent 3: Service Impact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0" sz="quarter"/>
          </p:nvPr>
        </p:nvSpPr>
        <p:spPr/>
        <p:txBody>
          <a:bodyPr wrap="square"/>
          <a:lstStyle/>
          <a:p>
            <a:r>
              <a:t>Agent 2: Root Cause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1" sz="quarter"/>
          </p:nvPr>
        </p:nvSpPr>
        <p:spPr/>
        <p:txBody>
          <a:bodyPr wrap="square"/>
          <a:lstStyle/>
          <a:p>
            <a:r>
              <a:t>Agent 1: Alarm Retrieval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Innovation 2 — Multi-Agent A2A Pipeline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85" sz="quarter"/>
          </p:nvPr>
        </p:nvSpPr>
        <p:spPr/>
        <p:txBody>
          <a:bodyPr wrap="square"/>
          <a:lstStyle/>
          <a:p>
            <a:r>
              <a:t>SSE Streaming: pipeline fires one event per agent — watch AI think live. No more 60-second spinners.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76" sz="quarter"/>
          </p:nvPr>
        </p:nvSpPr>
        <p:spPr/>
        <p:txBody>
          <a:bodyPr wrap="square"/>
          <a:lstStyle/>
          <a:p>
            <a:r>
              <a:t>Each agent's output</a:t>
            </a:r>
          </a:p>
          <a:p>
            <a:r>
              <a:t>becomes the next</a:t>
            </a:r>
          </a:p>
          <a:p>
            <a:r>
              <a:t>agent's input context.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78" sz="quarter"/>
          </p:nvPr>
        </p:nvSpPr>
        <p:spPr/>
        <p:txBody>
          <a:bodyPr wrap="square"/>
          <a:lstStyle/>
          <a:p>
            <a:r>
              <a:t>A2A Flow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24" sz="quarter"/>
          </p:nvPr>
        </p:nvSpPr>
        <p:spPr/>
        <p:txBody>
          <a:bodyPr wrap="square"/>
          <a:lstStyle/>
          <a:p>
            <a:r>
              <a:rPr sz="900"/>
              <a:t>Runs hybrid_search()</a:t>
            </a:r>
          </a:p>
          <a:p>
            <a:r>
              <a:rPr sz="900"/>
              <a:t>Returns top-5 incidents</a:t>
            </a:r>
          </a:p>
          <a:p>
            <a:r>
              <a:rPr sz="900"/>
              <a:t>+ alarm patterns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26" sz="quarter"/>
          </p:nvPr>
        </p:nvSpPr>
        <p:spPr/>
        <p:txBody>
          <a:bodyPr wrap="square"/>
          <a:lstStyle/>
          <a:p>
            <a:r>
              <a:rPr sz="900"/>
              <a:t>Fault chain + confidence</a:t>
            </a:r>
          </a:p>
          <a:p>
            <a:r>
              <a:rPr sz="900"/>
              <a:t>Probable causes list</a:t>
            </a:r>
          </a:p>
          <a:p>
            <a:r>
              <a:rPr sz="900"/>
              <a:t>Technical explanation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28" sz="quarter"/>
          </p:nvPr>
        </p:nvSpPr>
        <p:spPr/>
        <p:txBody>
          <a:bodyPr wrap="square"/>
          <a:lstStyle/>
          <a:p>
            <a:r>
              <a:rPr sz="900"/>
              <a:t>Affected subscribers</a:t>
            </a:r>
          </a:p>
          <a:p>
            <a:r>
              <a:rPr sz="900"/>
              <a:t>SLA breach risk level</a:t>
            </a:r>
          </a:p>
          <a:p>
            <a:r>
              <a:rPr sz="900"/>
              <a:t>Revenue impact/hr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30" sz="quarter"/>
          </p:nvPr>
        </p:nvSpPr>
        <p:spPr/>
        <p:txBody>
          <a:bodyPr wrap="square"/>
          <a:lstStyle/>
          <a:p>
            <a:r>
              <a:rPr sz="900"/>
              <a:t>Vendor CLI commands</a:t>
            </a:r>
          </a:p>
          <a:p>
            <a:r>
              <a:rPr sz="900"/>
              <a:t>Escalation path</a:t>
            </a:r>
          </a:p>
          <a:p>
            <a:r>
              <a:rPr sz="900"/>
              <a:t>Prevention measures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Innovations 3 · 4 · 5 — Streaming, Voice &amp; Follow-up Q&amp;A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93" sz="quarter"/>
          </p:nvPr>
        </p:nvSpPr>
        <p:spPr/>
        <p:txBody>
          <a:bodyPr wrap="square"/>
          <a:lstStyle/>
          <a:p>
            <a:r>
              <a:t>SSE Streaming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96" sz="quarter"/>
          </p:nvPr>
        </p:nvSpPr>
        <p:spPr/>
        <p:txBody>
          <a:bodyPr wrap="square"/>
          <a:lstStyle/>
          <a:p>
            <a:r>
              <a:t>Voice Input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99" sz="quarter"/>
          </p:nvPr>
        </p:nvSpPr>
        <p:spPr/>
        <p:txBody>
          <a:bodyPr wrap="square"/>
          <a:lstStyle/>
          <a:p>
            <a:r>
              <a:t>Follow-up Q&amp;A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1" sz="quarter"/>
          </p:nvPr>
        </p:nvSpPr>
        <p:spPr/>
        <p:txBody>
          <a:bodyPr wrap="square"/>
          <a:lstStyle/>
          <a:p>
            <a:r>
              <a:t>Server-Sent Events stream each agent as it completes</a:t>
            </a:r>
          </a:p>
          <a:p>
            <a:r>
              <a:t>→  'Enhanced' event fires instantly (0s)</a:t>
            </a:r>
          </a:p>
          <a:p>
            <a:r>
              <a:t>→  One agent_done event per agent</a:t>
            </a:r>
          </a:p>
          <a:p>
            <a:r>
              <a:t>→  Progressive UI — no 60s spinner</a:t>
            </a:r>
          </a:p>
          <a:p>
            <a:r>
              <a:t>→  Frontend uses fetch + ReadableStream</a:t>
            </a:r>
          </a:p>
          <a:p>
            <a:r>
              <a:t>    (EventSource doesn't support POST)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7" sz="quarter"/>
          </p:nvPr>
        </p:nvSpPr>
        <p:spPr/>
        <p:txBody>
          <a:bodyPr wrap="square"/>
          <a:lstStyle/>
          <a:p>
            <a:r>
              <a:t>Web Speech API — browser-native, zero backend changes</a:t>
            </a:r>
          </a:p>
          <a:p>
            <a:r>
              <a:t>→  Mic button in query bar</a:t>
            </a:r>
          </a:p>
          <a:p>
            <a:r>
              <a:t>→  Speak the fault description</a:t>
            </a:r>
          </a:p>
          <a:p>
            <a:r>
              <a:t>→  Transcript auto-fills input</a:t>
            </a:r>
          </a:p>
          <a:p>
            <a:r>
              <a:t>→  Works in Chrome and Edge</a:t>
            </a:r>
          </a:p>
          <a:p>
            <a:r>
              <a:t>→  'NOC Alexa' use case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9" sz="quarter"/>
          </p:nvPr>
        </p:nvSpPr>
        <p:spPr/>
        <p:txBody>
          <a:bodyPr wrap="square"/>
          <a:lstStyle/>
          <a:p>
            <a:r>
              <a:t>Chat thread below results — context carried automatically</a:t>
            </a:r>
          </a:p>
          <a:p>
            <a:r>
              <a:t>→  Single LLM call (3–5s, not 30s)</a:t>
            </a:r>
          </a:p>
          <a:p>
            <a:r>
              <a:t>→  References prior fault analysis</a:t>
            </a:r>
          </a:p>
          <a:p>
            <a:r>
              <a:t>→  Multiple Q&amp;A pairs stack</a:t>
            </a:r>
          </a:p>
          <a:p>
            <a:r>
              <a:t>→  'What if this was 4G?'</a:t>
            </a:r>
          </a:p>
          <a:p>
            <a:r>
              <a:t>→  'Show worst case scenario'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Innovations 6 · 7 · 8 — Anomaly, SLA &amp; Confidence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93" sz="quarter"/>
          </p:nvPr>
        </p:nvSpPr>
        <p:spPr/>
        <p:txBody>
          <a:bodyPr wrap="square"/>
          <a:lstStyle/>
          <a:p>
            <a:r>
              <a:t>Anomaly Detection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96" sz="quarter"/>
          </p:nvPr>
        </p:nvSpPr>
        <p:spPr/>
        <p:txBody>
          <a:bodyPr wrap="square"/>
          <a:lstStyle/>
          <a:p>
            <a:r>
              <a:t>SLA Countdown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99" sz="quarter"/>
          </p:nvPr>
        </p:nvSpPr>
        <p:spPr/>
        <p:txBody>
          <a:bodyPr wrap="square"/>
          <a:lstStyle/>
          <a:p>
            <a:r>
              <a:t>Confidence Breakdown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1" sz="quarter"/>
          </p:nvPr>
        </p:nvSpPr>
        <p:spPr/>
        <p:txBody>
          <a:bodyPr wrap="square"/>
          <a:lstStyle/>
          <a:p>
            <a:r>
              <a:t>Statistically flags elevated incident rates</a:t>
            </a:r>
          </a:p>
          <a:p>
            <a:r>
              <a:t>→  Compares 3-month rate vs all-time baseline</a:t>
            </a:r>
          </a:p>
          <a:p>
            <a:r>
              <a:t>→  Triggers banner when ≥ 1.8× baseline</a:t>
            </a:r>
          </a:p>
          <a:p>
            <a:r>
              <a:t>→  Example: 'South/5G-NR is 3.2× above baseline'</a:t>
            </a:r>
          </a:p>
          <a:p>
            <a:r>
              <a:t>→  Shifts from reactive to proactive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7" sz="quarter"/>
          </p:nvPr>
        </p:nvSpPr>
        <p:spPr/>
        <p:txBody>
          <a:bodyPr wrap="square"/>
          <a:lstStyle/>
          <a:p>
            <a:r>
              <a:t>Live countdown when SLA risk is HIGH</a:t>
            </a:r>
          </a:p>
          <a:p>
            <a:r>
              <a:t>→  30-minute SLA window tracked per-second</a:t>
            </a:r>
          </a:p>
          <a:p>
            <a:r>
              <a:t>→  Color shifts: red → orange → yellow</a:t>
            </a:r>
          </a:p>
          <a:p>
            <a:r>
              <a:t>→  Shows avg resolution time from similar cases</a:t>
            </a:r>
          </a:p>
          <a:p>
            <a:r>
              <a:t>→  Dramatic and clear in live demo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9" sz="quarter"/>
          </p:nvPr>
        </p:nvSpPr>
        <p:spPr/>
        <p:txBody>
          <a:bodyPr wrap="square"/>
          <a:lstStyle/>
          <a:p>
            <a:r>
              <a:t>Click ⓘ on the RCA confidence gauge</a:t>
            </a:r>
          </a:p>
          <a:p>
            <a:r>
              <a:t>→  Shows exactly why score is X%</a:t>
            </a:r>
          </a:p>
          <a:p>
            <a:r>
              <a:t>→  Factors: incidents found, region match,</a:t>
            </a:r>
          </a:p>
          <a:p>
            <a:r>
              <a:t>    semantic similarity, alarm consistency</a:t>
            </a:r>
          </a:p>
          <a:p>
            <a:r>
              <a:t>→  Full AI auditability — not a black box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Analytics &amp; Intelligence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Analytics Dashboard — 4 Intelligence Tabs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360° network health visibility with auto-refresh and cross-region correlation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98" sz="quarter"/>
          </p:nvPr>
        </p:nvSpPr>
        <p:spPr/>
        <p:txBody>
          <a:bodyPr wrap="square"/>
          <a:lstStyle/>
          <a:p>
            <a:r>
              <a:t>Overview:      6 KPI cards · severity donut · technology pie · monthly trends · vendor frequency</a:t>
            </a:r>
          </a:p>
          <a:p>
            <a:r>
              <a:t>Risk Forecast: Outage risk scores (0–100) per region AND per technology · top risk hotspots</a:t>
            </a:r>
          </a:p>
          <a:p>
            <a:r>
              <a:t>SLA Intel:     Breach probability by severity · predicted breach risk by region · downtime hours</a:t>
            </a:r>
          </a:p>
          <a:p>
            <a:r>
              <a:t>Cross-Region:  Fault correlation matrix (% shared alarms) · propagation patterns across 3+ regions</a:t>
            </a:r>
          </a:p>
          <a:p>
            <a:r>
              <a:t/>
            </a:r>
          </a:p>
          <a:p>
            <a:r>
              <a:t>Auto-refresh every 30s — CountdownTimer is an isolated component so charts don't re-render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ServiceNow Integration — Production NOC Tickets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One-click AI-generated incident tickets in the real ServiceNow instance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98" sz="quarter"/>
          </p:nvPr>
        </p:nvSpPr>
        <p:spPr/>
        <p:txBody>
          <a:bodyPr wrap="square"/>
          <a:lstStyle/>
          <a:p>
            <a:r>
              <a:t>Short description:  [TelecomIQ] P1-Critical | 5G Radio Access Failure | South | 31,600 subs | SLA: HIGH</a:t>
            </a:r>
          </a:p>
          <a:p>
            <a:r>
              <a:t>Description:        Structured NOC report — TelecomIQ branding · fault classification · business impact</a:t>
            </a:r>
          </a:p>
          <a:p>
            <a:r>
              <a:t>AI RCA section:     Root cause chain · confidence % · probable causes with individual confidence scores</a:t>
            </a:r>
          </a:p>
          <a:p>
            <a:r>
              <a:t>Work notes:         Resolution playbook with vendor CLI commands (Ericsson / Huawei / Nokia)</a:t>
            </a:r>
          </a:p>
          <a:p>
            <a:r>
              <a:t>Fields set:         contact_type=monitoring · subcategory=5g_nr · category=network · priority mapped</a:t>
            </a:r>
          </a:p>
          <a:p>
            <a:r>
              <a:t>Live instance:      dev385660.service-now.com — tickets visible in real ServiceNow right now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Responsible AI &amp; Sustainability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r>
              <a:t>97%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Green AI Score — Token Efficiency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Token reduction vs naive LLM approach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7" sz="quarter"/>
          </p:nvPr>
        </p:nvSpPr>
        <p:spPr/>
        <p:txBody>
          <a:bodyPr wrap="square"/>
          <a:lstStyle/>
          <a:p>
            <a:r>
              <a:t>Without RAG:  814,000 tokens (all 7,400 incidents → LLM)</a:t>
            </a:r>
          </a:p>
          <a:p>
            <a:r>
              <a:t>With RAG:     ~4,000 tokens (top-5 relevant incidents only)</a:t>
            </a:r>
          </a:p>
          <a:p>
            <a:r>
              <a:t>Saved:        ~810,000 tokens · ~0.32g CO₂ per query</a:t>
            </a:r>
          </a:p>
          <a:p>
            <a:r>
              <a:t/>
            </a:r>
          </a:p>
          <a:p>
            <a:r>
              <a:t>Semantic Cache:  Similar queries (≥88% cosine sim) replay in</a:t>
            </a:r>
          </a:p>
          <a:p>
            <a:r>
              <a:t>                 under 1 second with zero LLM calls</a:t>
            </a:r>
          </a:p>
          <a:p>
            <a:r>
              <a:t/>
            </a:r>
          </a:p>
          <a:p>
            <a:r>
              <a:t>Every result shows: tokens used · CO₂ used/saved · label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Semantic Query Cache — Zero LLM Calls for Repeat Queries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In-memory cosine similarity cache with instant pipeline replay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98" sz="quarter"/>
          </p:nvPr>
        </p:nvSpPr>
        <p:spPr/>
        <p:txBody>
          <a:bodyPr wrap="square"/>
          <a:lstStyle/>
          <a:p>
            <a:r>
              <a:t>Architecture:   In-memory LRU cache · max 50 entries · numpy cosine similarity</a:t>
            </a:r>
          </a:p>
          <a:p>
            <a:r>
              <a:t>Threshold:      88% cosine similarity for a cache hit</a:t>
            </a:r>
          </a:p>
          <a:p>
            <a:r>
              <a:t>Fallback:       difflib text similarity when embedding API is unavailable</a:t>
            </a:r>
          </a:p>
          <a:p>
            <a:r>
              <a:t>On cache hit:   Pipeline 'replays' in &lt;1 second · green CACHE HIT banner shows similarity %</a:t>
            </a:r>
          </a:p>
          <a:p>
            <a:r>
              <a:t>Chained bonus:  Export Report (.md) · RAG Quality Metrics (Faithfulness/Relevancy/Precision/Recall)</a:t>
            </a:r>
          </a:p>
          <a:p>
            <a:r>
              <a:t>Stats endpoint: GET /api/cache/stats returns hit rate %, total hits, entries cached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Evaluation &amp;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07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9" sz="quarter"/>
          </p:nvPr>
        </p:nvSpPr>
        <p:spPr/>
        <p:txBody>
          <a:bodyPr wrap="square"/>
          <a:lstStyle/>
          <a:p>
            <a:r>
              <a:t>Contextual Recall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93" sz="quarter"/>
          </p:nvPr>
        </p:nvSpPr>
        <p:spPr/>
        <p:txBody>
          <a:bodyPr wrap="square"/>
          <a:lstStyle/>
          <a:p>
            <a:r>
              <a:t>Contextual Precision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0" sz="quarter"/>
          </p:nvPr>
        </p:nvSpPr>
        <p:spPr/>
        <p:txBody>
          <a:bodyPr wrap="square"/>
          <a:lstStyle/>
          <a:p>
            <a:r>
              <a:t>Answer Relevancy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1" sz="quarter"/>
          </p:nvPr>
        </p:nvSpPr>
        <p:spPr/>
        <p:txBody>
          <a:bodyPr wrap="square"/>
          <a:lstStyle/>
          <a:p>
            <a:r>
              <a:t>Faithfulness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RAG Quality Metrics — DeepEval-Compatible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85" sz="quarter"/>
          </p:nvPr>
        </p:nvSpPr>
        <p:spPr/>
        <p:txBody>
          <a:bodyPr wrap="square"/>
          <a:lstStyle/>
          <a:p>
            <a:r>
              <a:t>Overall quality score shown on every result. Engineers always know how confident the AI is and why.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76" sz="quarter"/>
          </p:nvPr>
        </p:nvSpPr>
        <p:spPr/>
        <p:txBody>
          <a:bodyPr wrap="square"/>
          <a:lstStyle/>
          <a:p>
            <a:r>
              <a:t>Every query scores</a:t>
            </a:r>
          </a:p>
          <a:p>
            <a:r>
              <a:t>all 4 metrics.</a:t>
            </a:r>
          </a:p>
          <a:p>
            <a:r>
              <a:t>Engineers see AI</a:t>
            </a:r>
          </a:p>
          <a:p>
            <a:r>
              <a:t>confidence level.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78" sz="quarter"/>
          </p:nvPr>
        </p:nvSpPr>
        <p:spPr/>
        <p:txBody>
          <a:bodyPr wrap="square"/>
          <a:lstStyle/>
          <a:p>
            <a:r>
              <a:t>Why Measure?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24" sz="quarter"/>
          </p:nvPr>
        </p:nvSpPr>
        <p:spPr/>
        <p:txBody>
          <a:bodyPr wrap="square"/>
          <a:lstStyle/>
          <a:p>
            <a:r>
              <a:rPr sz="900"/>
              <a:t>Response grounded</a:t>
            </a:r>
          </a:p>
          <a:p>
            <a:r>
              <a:rPr sz="900"/>
              <a:t>in retrieved incidents</a:t>
            </a:r>
          </a:p>
          <a:p>
            <a:r>
              <a:rPr sz="900"/>
              <a:t>Typical: 78–92%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26" sz="quarter"/>
          </p:nvPr>
        </p:nvSpPr>
        <p:spPr/>
        <p:txBody>
          <a:bodyPr wrap="square"/>
          <a:lstStyle/>
          <a:p>
            <a:r>
              <a:rPr sz="900"/>
              <a:t>Response addresses</a:t>
            </a:r>
          </a:p>
          <a:p>
            <a:r>
              <a:rPr sz="900"/>
              <a:t>the original query</a:t>
            </a:r>
          </a:p>
          <a:p>
            <a:r>
              <a:rPr sz="900"/>
              <a:t>Typical: 75–95%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28" sz="quarter"/>
          </p:nvPr>
        </p:nvSpPr>
        <p:spPr/>
        <p:txBody>
          <a:bodyPr wrap="square"/>
          <a:lstStyle/>
          <a:p>
            <a:r>
              <a:rPr sz="900"/>
              <a:t>Top results ranked</a:t>
            </a:r>
          </a:p>
          <a:p>
            <a:r>
              <a:rPr sz="900"/>
              <a:t>correctly by relevance</a:t>
            </a:r>
          </a:p>
          <a:p>
            <a:r>
              <a:rPr sz="900"/>
              <a:t>Typical: 72–90%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30" sz="quarter"/>
          </p:nvPr>
        </p:nvSpPr>
        <p:spPr/>
        <p:txBody>
          <a:bodyPr wrap="square"/>
          <a:lstStyle/>
          <a:p>
            <a:r>
              <a:rPr sz="900"/>
              <a:t>All relevant incidents</a:t>
            </a:r>
          </a:p>
          <a:p>
            <a:r>
              <a:rPr sz="900"/>
              <a:t>successfully retrieved</a:t>
            </a:r>
          </a:p>
          <a:p>
            <a:r>
              <a:rPr sz="900"/>
              <a:t>Typical: 80–90%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Key Performance Numbers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What we built — by the numbers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98" sz="quarter"/>
          </p:nvPr>
        </p:nvSpPr>
        <p:spPr/>
        <p:txBody>
          <a:bodyPr wrap="square"/>
          <a:lstStyle/>
          <a:p>
            <a:r>
              <a:t>7,400     incidents in knowledge base (real Telstra data + 19 synthetic 5G-NR)</a:t>
            </a:r>
          </a:p>
          <a:p>
            <a:r>
              <a:t>4         specialized AI agents in sequential A2A pipeline</a:t>
            </a:r>
          </a:p>
          <a:p>
            <a:r>
              <a:t>97%       token reduction vs naive LLM baseline (Green AI Score)</a:t>
            </a:r>
          </a:p>
          <a:p>
            <a:r>
              <a:t>88%       cosine similarity threshold for semantic cache hits</a:t>
            </a:r>
          </a:p>
          <a:p>
            <a:r>
              <a:t>&lt;1 sec    response time for cache hits vs 30–60s full pipeline</a:t>
            </a:r>
          </a:p>
          <a:p>
            <a:r>
              <a:t>30 min    SLA window tracked in real time with live countdown timer</a:t>
            </a:r>
          </a:p>
          <a:p>
            <a:r>
              <a:t>9+        distinct innovations beyond baseline RAG implementation</a:t>
            </a:r>
          </a:p>
          <a:p>
            <a:r>
              <a:t>814,000   tokens avoided per cached query (~0.32g CO₂ saved)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Technology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Production-grade full-stack implementation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98" sz="quarter"/>
          </p:nvPr>
        </p:nvSpPr>
        <p:spPr/>
        <p:txBody>
          <a:bodyPr wrap="square"/>
          <a:lstStyle/>
          <a:p>
            <a:r>
              <a:t>Backend:     Python 3.12 · FastAPI + Uvicorn · Pydantic v2 · OpenAI SDK · asyncio</a:t>
            </a:r>
          </a:p>
          <a:p>
            <a:r>
              <a:t>RAG:         ChromaDB · rank_bm25 · text-embedding-3-small · gpt-4o-mini · numpy</a:t>
            </a:r>
          </a:p>
          <a:p>
            <a:r>
              <a:t>Frontend:    React 18 + TypeScript · Recharts · Tailwind CSS · Lucide React</a:t>
            </a:r>
          </a:p>
          <a:p>
            <a:r>
              <a:t>Streaming:   Server-Sent Events via fetch ReadableStream (POST-compatible)</a:t>
            </a:r>
          </a:p>
          <a:p>
            <a:r>
              <a:t>Integration: ServiceNow REST API · LLM Gateway (keygateway.arshnivlabs.com)</a:t>
            </a:r>
          </a:p>
          <a:p>
            <a:r>
              <a:t>Voice:       Web Speech API (browser-native · zero backend changes)</a:t>
            </a:r>
          </a:p>
          <a:p>
            <a:r>
              <a:t>Evaluation:  DeepEval-compatible metrics · LLM-as-judge scoring rubric</a:t>
            </a:r>
          </a:p>
          <a:p>
            <a:r>
              <a:t>Data:        7,400 Telstra incidents · BM25 pickle · SQLite feedback store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Architecture Diagrams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Two Distinct Diagrams — Live in the App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Architecture tab in the navigation bar — interactive SVG, always up to date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98" sz="quarter"/>
          </p:nvPr>
        </p:nvSpPr>
        <p:spPr/>
        <p:txBody>
          <a:bodyPr wrap="square"/>
          <a:lstStyle/>
          <a:p>
            <a:r>
              <a:t>① System Architecture Diagram  —  What the system is made of</a:t>
            </a:r>
          </a:p>
          <a:p>
            <a:r>
              <a:t>   5-layer color-coded diagram · 30+ components · Cyan=UI · Purple=Agents · Green=RAG</a:t>
            </a:r>
          </a:p>
          <a:p>
            <a:r>
              <a:t>   Orange=Data · Red=External Services · Gold=LLM Gateway</a:t>
            </a:r>
          </a:p>
          <a:p>
            <a:r>
              <a:t/>
            </a:r>
          </a:p>
          <a:p>
            <a:r>
              <a:t>② Data Flow Diagram  —  How a query travels through the system</a:t>
            </a:r>
          </a:p>
          <a:p>
            <a:r>
              <a:t>   5 phases: Input → Validation → Retrieval → Agents → Output</a:t>
            </a:r>
          </a:p>
          <a:p>
            <a:r>
              <a:t>   Shows: 422 rejection branch · parallel search · A2A arrows · SSE event markers</a:t>
            </a:r>
          </a:p>
          <a:p>
            <a:r>
              <a:t/>
            </a:r>
          </a:p>
          <a:p>
            <a:r>
              <a:t>Both diagrams update automatically as the app evolves — built into the React frontend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t>Praveen K G   ·   praveen.kg@prodapt.com   ·   Capstone Project 2026
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odapt Presentation Template 18-Aug" id="{94E6C00B-2BFB-47B5-BD1D-5506940CF924}" vid="{F73A7085-4A5F-461E-BF66-0BA65823380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CE691FBD0A3640AB1112BAB501375B" ma:contentTypeVersion="4" ma:contentTypeDescription="Create a new document." ma:contentTypeScope="" ma:versionID="41bf295c73564391049f953514f3f199">
  <xsd:schema xmlns:xsd="http://www.w3.org/2001/XMLSchema" xmlns:xs="http://www.w3.org/2001/XMLSchema" xmlns:p="http://schemas.microsoft.com/office/2006/metadata/properties" xmlns:ns2="28609899-2071-4be1-b26b-d3c9d2c333b8" xmlns:ns3="58f322d2-f94d-49d2-b755-a14c1e5cbbff" targetNamespace="http://schemas.microsoft.com/office/2006/metadata/properties" ma:root="true" ma:fieldsID="d13ac1cf3e9c1e3f49d927a86aa55487" ns2:_="" ns3:_="">
    <xsd:import namespace="28609899-2071-4be1-b26b-d3c9d2c333b8"/>
    <xsd:import namespace="58f322d2-f94d-49d2-b755-a14c1e5cbb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609899-2071-4be1-b26b-d3c9d2c333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f322d2-f94d-49d2-b755-a14c1e5cbbf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7D8E58-5860-4B95-A0C0-090ED4A95F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598355-BC50-4776-9353-49E020A278E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0E7B6B0-B093-455D-B4D0-06891A6138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609899-2071-4be1-b26b-d3c9d2c333b8"/>
    <ds:schemaRef ds:uri="58f322d2-f94d-49d2-b755-a14c1e5cbb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</Words>
  <Application>Microsoft Office PowerPoint</Application>
  <PresentationFormat>On-screen Show (16:9)</PresentationFormat>
  <Paragraphs>17</Paragraphs>
  <Slides>51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Theme - Prodapt PPT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</vt:lpstr>
      <vt:lpstr>Basic</vt:lpstr>
      <vt:lpstr>Basic Elaboration</vt:lpstr>
      <vt:lpstr>Basic Elaboration</vt:lpstr>
      <vt:lpstr>Arrows</vt:lpstr>
      <vt:lpstr>Arrows</vt:lpstr>
      <vt:lpstr>Ecommerce</vt:lpstr>
      <vt:lpstr>Music</vt:lpstr>
      <vt:lpstr>Software</vt:lpstr>
      <vt:lpstr>Weather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2026-06-03T17:08:16Z</dcterms:created>
  <dcterms:modified xsi:type="dcterms:W3CDTF">2026-06-03T17:08:18Z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0x01010052CE691FBD0A3640AB1112BAB501375B</vt:lpwstr>
  </property>
</Properties>
</file>